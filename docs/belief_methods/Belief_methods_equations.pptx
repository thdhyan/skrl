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Belief-based manipulation: five methods, one Bayes filter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RSS20 (Wirnshofer), WAFR08 (Hsiao et al.), Audit-Before-You-Commit, GenAIF and Quasi-static belief dynamics differ in what they believe, how they update it and how they act on it.</a:t>
            </a:r>
          </a:p>
          <a:p>
            <a:r>
              <a:t>Plus: where skrl's PrivilegedPPO / BeliefPPO sit, the MuJoCo plan, and the encoder interface.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Common ground: the POMDP belief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Every method below is this filter with a different choice of s, representation of b, T, O, and decision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= posterior over hidden state given history</a:t>
            </a:r>
          </a:p>
        </p:txBody>
      </p:sp>
      <p:pic>
        <p:nvPicPr>
          <p:cNvPr id="5" name="Picture 4" descr="4d874b4375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5843847" cy="332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017520" cy="67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Prediction (transition model T)</a:t>
            </a:r>
          </a:p>
        </p:txBody>
      </p:sp>
      <p:pic>
        <p:nvPicPr>
          <p:cNvPr id="7" name="Picture 6" descr="9538aafa9d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3715789" cy="6733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611858"/>
            <a:ext cx="3017520" cy="735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Correction (observation model O)</a:t>
            </a:r>
          </a:p>
        </p:txBody>
      </p:sp>
      <p:pic>
        <p:nvPicPr>
          <p:cNvPr id="9" name="Picture 8" descr="cbcfbeda2d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611858"/>
            <a:ext cx="3765665" cy="7356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457262"/>
            <a:ext cx="3017520" cy="665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Entropy (info-gathering criteria use it)</a:t>
            </a:r>
          </a:p>
        </p:txBody>
      </p:sp>
      <p:pic>
        <p:nvPicPr>
          <p:cNvPr id="11" name="Picture 10" descr="006d52d576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457262"/>
            <a:ext cx="2984269" cy="6650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23200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Expected information gain of action a</a:t>
            </a:r>
          </a:p>
        </p:txBody>
      </p:sp>
      <p:pic>
        <p:nvPicPr>
          <p:cNvPr id="13" name="Picture 12" descr="33ed481c4a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232008"/>
            <a:ext cx="5964381" cy="3948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The methods differ on four axes: (1) what s is (object pose vs physical parameters vs discrete context vs learned latent), (2) how b is stored, (3) where T and O come from, (4) how b picks the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Same filter, different T and 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The single most useful slide: which term of the Bayes filter each method keeps, learns, tabulates or drops.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RSS20: T = simulate each particle, O = robot feedback</a:t>
            </a:r>
          </a:p>
        </p:txBody>
      </p:sp>
      <p:pic>
        <p:nvPicPr>
          <p:cNvPr id="5" name="Picture 4" descr="00b8259be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80160"/>
            <a:ext cx="5237018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WAFR08: T ≈ identity (light touch), O = offline table</a:t>
            </a:r>
          </a:p>
        </p:txBody>
      </p:sp>
      <p:pic>
        <p:nvPicPr>
          <p:cNvPr id="7" name="Picture 6" descr="dfc1b8e5f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28800"/>
            <a:ext cx="4073236" cy="3865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377440"/>
            <a:ext cx="3291840" cy="90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Audit: static parameters, T = identity, O = analytic f</a:t>
            </a:r>
          </a:p>
        </p:txBody>
      </p:sp>
      <p:pic>
        <p:nvPicPr>
          <p:cNvPr id="9" name="Picture 8" descr="0ae3794b6a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377440"/>
            <a:ext cx="4272741" cy="901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389098"/>
            <a:ext cx="3291840" cy="665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GenAIF: T and O both learned (diffusion / CVAE)</a:t>
            </a:r>
          </a:p>
        </p:txBody>
      </p:sp>
      <p:pic>
        <p:nvPicPr>
          <p:cNvPr id="11" name="Picture 10" descr="a49e755c62f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389098"/>
            <a:ext cx="4821381" cy="6650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163844"/>
            <a:ext cx="3291840" cy="67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Quasi-static: no O at all (open loop), only T</a:t>
            </a:r>
          </a:p>
        </p:txBody>
      </p:sp>
      <p:pic>
        <p:nvPicPr>
          <p:cNvPr id="13" name="Picture 12" descr="17772fbc54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163844"/>
            <a:ext cx="6558741" cy="6733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94690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skrl PrivilegedPPO: no explicit b, regressed point latent</a:t>
            </a:r>
          </a:p>
        </p:txBody>
      </p:sp>
      <p:pic>
        <p:nvPicPr>
          <p:cNvPr id="15" name="Picture 14" descr="75eb6cc06c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946902"/>
            <a:ext cx="6375861" cy="394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1164031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554480"/>
                <a:gridCol w="1600200"/>
                <a:gridCol w="1645920"/>
                <a:gridCol w="1965960"/>
                <a:gridCol w="1600200"/>
                <a:gridCol w="1536192"/>
              </a:tblGrid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Belief 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Obs.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Action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Information gathering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Commit / stop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RSS20 Wirnshofer (repo 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object pose (x, y[, yaw])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300 particles → 2-comp. GMM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sim rollout per particle vs robot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DQN picks a controller from a bank built around the GMM modes (2 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implicit (learned Q, r = −1)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goal reached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WAFR08 Hsiao, Lozano-Pérez, Kaelbling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object pose (x, y, 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uniform grid, multinomial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offline table Ω_τ(w,e) + 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world-relative trajectory at most-likely state w*(b)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explicit: argmax IG − c·FP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 ∈ belief pre-image of goal (P ≥ 1−δ)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Audit Before You Commit (Abouagour &amp; Min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task params θ (hole x, clearance; μ, m, k_d)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1024 particles + retained set C_{k,ν}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analytic forward model f(u, 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probes, then minimax over C_{k,ν}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fixed probe budget / cover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single irreversible commit; audit coverage + optimism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GenAIF (Li, Jafari, Matta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hidden dynamics context (tilt)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discrete posterior, Markov switching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learned generative trajectory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MPC: min expected free energy over sampled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−λ·I(Ξ; Y) inside EFE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none: replan every step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Quasi-static belief dyn. (Jankowski et al. IJRR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object pose q^o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particles → variance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none (open loop)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CMA-ES over via-points (BS-VP-STO)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none: shrink variance by contact funnelling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open-loop plan, γ_k ≤ 1</a:t>
                      </a:r>
                    </a:p>
                  </a:txBody>
                  <a:tcPr/>
                </a:tc>
              </a:tr>
              <a:tr h="52254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skrl PrivilegedPPO (this fork)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privileged params / state x^priv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learned point latent 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implicit (regression to 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PPO policy on (o, 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implicit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RSS20 (Wirnshofer et al.) — the Belief-based-pushing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WHERE the object is. Information gathering is never scored explicitly: the Q-function learns when probing pays.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Hidden: object pose; robot joints observed with noise</a:t>
            </a:r>
          </a:p>
        </p:txBody>
      </p:sp>
      <p:pic>
        <p:nvPicPr>
          <p:cNvPr id="5" name="Picture 4" descr="9e90d9b0d8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4567843" cy="3325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017520" cy="39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Particle belief over object pose</a:t>
            </a:r>
          </a:p>
        </p:txBody>
      </p:sp>
      <p:pic>
        <p:nvPicPr>
          <p:cNvPr id="7" name="Picture 6" descr="ceb32a322f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3936076" cy="3906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329226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Update: simulate every hypothesis under the same controller, compare robot feedback</a:t>
            </a:r>
          </a:p>
        </p:txBody>
      </p:sp>
      <p:pic>
        <p:nvPicPr>
          <p:cNvPr id="9" name="Picture 8" descr="874eb456f7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329226"/>
            <a:ext cx="412311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097322"/>
            <a:ext cx="3017520" cy="901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Compress (weighted EM, diagonal)</a:t>
            </a:r>
          </a:p>
        </p:txBody>
      </p:sp>
      <p:pic>
        <p:nvPicPr>
          <p:cNvPr id="11" name="Picture 10" descr="5f9cc8a22f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97322"/>
            <a:ext cx="5436523" cy="9019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10898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Controller bank relative to each mode</a:t>
            </a:r>
          </a:p>
        </p:txBody>
      </p:sp>
      <p:pic>
        <p:nvPicPr>
          <p:cNvPr id="13" name="Picture 12" descr="4d4a4bcf91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4108980"/>
            <a:ext cx="5939443" cy="3865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657620"/>
            <a:ext cx="3017520" cy="49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Policy: Dueling Double DQN on the compressed belief</a:t>
            </a:r>
          </a:p>
        </p:txBody>
      </p:sp>
      <p:pic>
        <p:nvPicPr>
          <p:cNvPr id="15" name="Picture 14" descr="af0b1cae0a8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4657620"/>
            <a:ext cx="5307676" cy="49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WAFR08 — Robust belief-based execution (Hsiao, Lozano-Pérez, Kaelbling)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WHERE the object is. Explicit, one-step information gain; commits when the belief is inside the goal's pre-image.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200400" cy="26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Grid belief over object pose</a:t>
            </a:r>
          </a:p>
        </p:txBody>
      </p:sp>
      <p:pic>
        <p:nvPicPr>
          <p:cNvPr id="5" name="Picture 4" descr="386c15f8c5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280160"/>
            <a:ext cx="3702211" cy="2639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653814"/>
            <a:ext cx="3200400" cy="567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Discrete Bayes filter</a:t>
            </a:r>
          </a:p>
        </p:txBody>
      </p:sp>
      <p:pic>
        <p:nvPicPr>
          <p:cNvPr id="7" name="Picture 6" descr="472f4aeabd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653814"/>
            <a:ext cx="4450607" cy="567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331166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Obs. model from offline geometric sim of WRT τ run for estimate e in true world w</a:t>
            </a:r>
          </a:p>
        </p:txBody>
      </p:sp>
      <p:pic>
        <p:nvPicPr>
          <p:cNvPr id="9" name="Picture 8" descr="54966d8e43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2331166"/>
            <a:ext cx="3188818" cy="3109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099262"/>
            <a:ext cx="3200400" cy="34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Act at the most likely state</a:t>
            </a:r>
          </a:p>
        </p:txBody>
      </p:sp>
      <p:pic>
        <p:nvPicPr>
          <p:cNvPr id="11" name="Picture 10" descr="18c65ff761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39" y="3099262"/>
            <a:ext cx="1959568" cy="3434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552456"/>
            <a:ext cx="3200400" cy="531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Goal on beliefs, and the belief pre-image</a:t>
            </a:r>
          </a:p>
        </p:txBody>
      </p:sp>
      <p:pic>
        <p:nvPicPr>
          <p:cNvPr id="13" name="Picture 12" descr="1ff22c1420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39" y="3552456"/>
            <a:ext cx="8076895" cy="5314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193653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Failure probability (undetected contact)</a:t>
            </a:r>
          </a:p>
        </p:txBody>
      </p:sp>
      <p:pic>
        <p:nvPicPr>
          <p:cNvPr id="15" name="Picture 14" descr="e63d383eae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39" y="4193653"/>
            <a:ext cx="3347897" cy="3109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4742293"/>
            <a:ext cx="3200400" cy="589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Information gain of a WRT (first contact only)</a:t>
            </a:r>
          </a:p>
        </p:txBody>
      </p:sp>
      <p:pic>
        <p:nvPicPr>
          <p:cNvPr id="17" name="Picture 16" descr="fed4008f9a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39" y="4742293"/>
            <a:ext cx="5904014" cy="5893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5441337"/>
            <a:ext cx="3200400" cy="705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Mode switch</a:t>
            </a:r>
          </a:p>
        </p:txBody>
      </p:sp>
      <p:pic>
        <p:nvPicPr>
          <p:cNvPr id="19" name="Picture 18" descr="53bd3a0a049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39" y="5441337"/>
            <a:ext cx="4548224" cy="705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Audit Before You Commit (Abouagour &amp; Min, arXiv 2609.30608)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WHAT the physics/geometry is. Not a planner: it asks whether the belief can be trusted before the one irreversible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Hidden task parameters (insertion example; pushing: μ, m, k_d)</a:t>
            </a:r>
          </a:p>
        </p:txBody>
      </p:sp>
      <p:pic>
        <p:nvPicPr>
          <p:cNvPr id="5" name="Picture 4" descr="936be6d3bc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80160"/>
            <a:ext cx="3761509" cy="3034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Particle belief from k probes (static θ: no prediction step)</a:t>
            </a:r>
          </a:p>
        </p:txBody>
      </p:sp>
      <p:pic>
        <p:nvPicPr>
          <p:cNvPr id="7" name="Picture 6" descr="fc68818b8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828800"/>
            <a:ext cx="6695901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761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Retained set: shortest top-weight prefix with mass ν (=0.8)</a:t>
            </a:r>
          </a:p>
        </p:txBody>
      </p:sp>
      <p:pic>
        <p:nvPicPr>
          <p:cNvPr id="9" name="Picture 8" descr="2c9818ba7c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761488"/>
            <a:ext cx="5827221" cy="3408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310128"/>
            <a:ext cx="3291840" cy="69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Commit once: scenario minimax (binary: failure fraction)</a:t>
            </a:r>
          </a:p>
        </p:txBody>
      </p:sp>
      <p:pic>
        <p:nvPicPr>
          <p:cNvPr id="11" name="Picture 10" descr="fb05332a25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3310128"/>
            <a:ext cx="6392487" cy="6982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118125"/>
            <a:ext cx="3291840" cy="303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Probe budget trade-off</a:t>
            </a:r>
          </a:p>
        </p:txBody>
      </p:sp>
      <p:pic>
        <p:nvPicPr>
          <p:cNvPr id="13" name="Picture 12" descr="d0fc3643a9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4118125"/>
            <a:ext cx="2261061" cy="3034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531267"/>
            <a:ext cx="3291840" cy="477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Audit 1: coverage of the decision coordinate</a:t>
            </a:r>
          </a:p>
        </p:txBody>
      </p:sp>
      <p:pic>
        <p:nvPicPr>
          <p:cNvPr id="15" name="Picture 14" descr="808b00558ec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531267"/>
            <a:ext cx="5261956" cy="4779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5118976"/>
            <a:ext cx="3291840" cy="357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Audit 2: failure-model optimism</a:t>
            </a:r>
          </a:p>
        </p:txBody>
      </p:sp>
      <p:pic>
        <p:nvPicPr>
          <p:cNvPr id="17" name="Picture 16" descr="5f30c720dad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5118976"/>
            <a:ext cx="4318461" cy="357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5586151"/>
            <a:ext cx="3291840" cy="48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Limit of any history-based commit gate</a:t>
            </a:r>
          </a:p>
        </p:txBody>
      </p:sp>
      <p:pic>
        <p:nvPicPr>
          <p:cNvPr id="19" name="Picture 18" descr="81d74fc8255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0" y="5586151"/>
            <a:ext cx="5008418" cy="486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GenAIF — generative models for active inference (Li et al., arXiv 2610.05692)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WHICH dynamics regime holds. Info gain is a term in the objective, traded off continuously against task cost.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108960" cy="79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One generative model gives proposals, dynamics and likelihood</a:t>
            </a:r>
          </a:p>
        </p:txBody>
      </p:sp>
      <p:pic>
        <p:nvPicPr>
          <p:cNvPr id="5" name="Picture 4" descr="ba995b8ac2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7348450" cy="793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2183753"/>
            <a:ext cx="3108960" cy="61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hidden context z (benchmark: lateral tilt)</a:t>
            </a:r>
          </a:p>
        </p:txBody>
      </p:sp>
      <p:pic>
        <p:nvPicPr>
          <p:cNvPr id="7" name="Picture 6" descr="bf74c0dc8d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183753"/>
            <a:ext cx="6712527" cy="6109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90446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Update as variational free-energy minimisation</a:t>
            </a:r>
          </a:p>
        </p:txBody>
      </p:sp>
      <p:pic>
        <p:nvPicPr>
          <p:cNvPr id="9" name="Picture 8" descr="21c5446664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904466"/>
            <a:ext cx="5207923" cy="3574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3453106"/>
            <a:ext cx="3108960" cy="62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Candidate rollout distribution under do(U)</a:t>
            </a:r>
          </a:p>
        </p:txBody>
      </p:sp>
      <p:pic>
        <p:nvPicPr>
          <p:cNvPr id="11" name="Picture 10" descr="4d04689b0f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53106"/>
            <a:ext cx="5881254" cy="6234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4186288"/>
            <a:ext cx="3108960" cy="67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Expected free energy: task cost minus info gain</a:t>
            </a:r>
          </a:p>
        </p:txBody>
      </p:sp>
      <p:pic>
        <p:nvPicPr>
          <p:cNvPr id="13" name="Picture 12" descr="fb03b0dceb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186288"/>
            <a:ext cx="4152207" cy="6774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973503"/>
            <a:ext cx="3108960" cy="46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MPC: sample U from μ_θ, keep safe ones, take min</a:t>
            </a:r>
          </a:p>
        </p:txBody>
      </p:sp>
      <p:pic>
        <p:nvPicPr>
          <p:cNvPr id="15" name="Picture 14" descr="e558b15f1ee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973503"/>
            <a:ext cx="6583680" cy="4613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Note: the paper's hidden variable is surface tilt (9 conditions incl. obstacle position), not friction/mass. μ, m, damping are a natural extension in our MuJoCo env.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Quasi-static belief dynamics for robust pushing (Jankowski et al., IJRR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 over WHERE the object is, but never corrected by sensing: robustness comes from choosing contacts that funnel (contract) the belief.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108960" cy="44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Quasi-static contact: object moves the least to stay non-penetrating</a:t>
            </a:r>
          </a:p>
        </p:txBody>
      </p:sp>
      <p:pic>
        <p:nvPicPr>
          <p:cNvPr id="5" name="Picture 4" descr="256b03649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0160"/>
            <a:ext cx="6596149" cy="4447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3461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Noise only while in contact</a:t>
            </a:r>
          </a:p>
        </p:txBody>
      </p:sp>
      <p:pic>
        <p:nvPicPr>
          <p:cNvPr id="7" name="Picture 6" descr="7ac29675dd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834618"/>
            <a:ext cx="5586152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26438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Variance propagation without sampling w</a:t>
            </a:r>
          </a:p>
        </p:txBody>
      </p:sp>
      <p:pic>
        <p:nvPicPr>
          <p:cNvPr id="9" name="Picture 8" descr="ab7a37b732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264386"/>
            <a:ext cx="3092334" cy="3574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281302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Particle estimate (nominal f only)</a:t>
            </a:r>
          </a:p>
        </p:txBody>
      </p:sp>
      <p:pic>
        <p:nvPicPr>
          <p:cNvPr id="11" name="Picture 10" descr="cd09518a7b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813026"/>
            <a:ext cx="5008418" cy="685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608554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Variance gain per step; robustness constraint</a:t>
            </a:r>
          </a:p>
        </p:txBody>
      </p:sp>
      <p:pic>
        <p:nvPicPr>
          <p:cNvPr id="13" name="Picture 12" descr="b1ee6fe6dd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608554"/>
            <a:ext cx="3320934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4541242"/>
            <a:ext cx="3108960" cy="68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Cost for CMA-ES over via-points (BS-VP-STO)</a:t>
            </a:r>
          </a:p>
        </p:txBody>
      </p:sp>
      <p:pic>
        <p:nvPicPr>
          <p:cNvPr id="15" name="Picture 14" descr="b04518a1a1f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4541242"/>
            <a:ext cx="6363392" cy="689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Where this skrl fork sits: PrivilegedPPO / BeliefPPO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Amortised belief: fast and scalable (1000s of envs), but uncertainty and information value are implicit in the RL value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Teacher latent from privileged values (sim only)</a:t>
            </a:r>
          </a:p>
        </p:txBody>
      </p:sp>
      <p:pic>
        <p:nvPicPr>
          <p:cNvPr id="5" name="Picture 4" descr="72873ed357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1641763" cy="394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History estimator (MLP / Conv1d / LSTM / Transformer)</a:t>
            </a:r>
          </a:p>
        </p:txBody>
      </p:sp>
      <p:pic>
        <p:nvPicPr>
          <p:cNvPr id="7" name="Picture 6" descr="31047d93e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3096490" cy="415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377440"/>
            <a:ext cx="3017520" cy="3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Policy input, masked by curriculum</a:t>
            </a:r>
          </a:p>
        </p:txBody>
      </p:sp>
      <p:pic>
        <p:nvPicPr>
          <p:cNvPr id="9" name="Picture 8" descr="cd752d0812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377440"/>
            <a:ext cx="6201294" cy="3865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2873709"/>
            <a:ext cx="3017520" cy="43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Estimator / sysid losses</a:t>
            </a:r>
          </a:p>
        </p:txBody>
      </p:sp>
      <p:pic>
        <p:nvPicPr>
          <p:cNvPr id="11" name="Picture 10" descr="58c27abc66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873709"/>
            <a:ext cx="4463934" cy="4364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419855"/>
            <a:ext cx="3017520" cy="33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What the latent is, in belief terms</a:t>
            </a:r>
          </a:p>
        </p:txBody>
      </p:sp>
      <p:pic>
        <p:nvPicPr>
          <p:cNvPr id="13" name="Picture 12" descr="59e785058d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419855"/>
            <a:ext cx="7660178" cy="3325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3862092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BeliefPPO (explicit): particle filter + GMM as obs.</a:t>
            </a:r>
          </a:p>
        </p:txBody>
      </p:sp>
      <p:pic>
        <p:nvPicPr>
          <p:cNvPr id="15" name="Picture 14" descr="5947f459eb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862092"/>
            <a:ext cx="4580312" cy="4156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How they differ, in belief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• WHAT is uncertain</a:t>
            </a:r>
          </a:p>
          <a:p>
            <a:pPr lvl="1">
              <a:defRPr sz="1400"/>
            </a:pPr>
            <a:r>
              <a:t>– pose of the object: RSS20, WAFR08, Quasi-static;  physical / task parameters: Audit (θ), GenAIF (tilt), skrl (x^priv)</a:t>
            </a:r>
          </a:p>
          <a:p>
            <a:pPr>
              <a:defRPr sz="1700"/>
            </a:pPr>
            <a:r>
              <a:t>• HOW uncertainty is stored</a:t>
            </a:r>
          </a:p>
          <a:p>
            <a:pPr lvl="1">
              <a:defRPr sz="1400"/>
            </a:pPr>
            <a:r>
              <a:t>– full posterior: WAFR08 grid, Audit particles;  compressed: RSS20 2-GMM;  2nd moment only: Quasi-static;  point: skrl ẑ</a:t>
            </a:r>
          </a:p>
          <a:p>
            <a:pPr>
              <a:defRPr sz="1700"/>
            </a:pPr>
            <a:r>
              <a:t>• WHERE the likelihood comes from</a:t>
            </a:r>
          </a:p>
          <a:p>
            <a:pPr lvl="1">
              <a:defRPr sz="1400"/>
            </a:pPr>
            <a:r>
              <a:t>– offline table (WAFR08), analytic model (Audit), per-particle simulation (RSS20), learned generative model (GenAIF), none (Quasi-static)</a:t>
            </a:r>
          </a:p>
          <a:p>
            <a:pPr>
              <a:defRPr sz="1700"/>
            </a:pPr>
            <a:r>
              <a:t>• HOW information is valued</a:t>
            </a:r>
          </a:p>
          <a:p>
            <a:pPr lvl="1">
              <a:defRPr sz="1400"/>
            </a:pPr>
            <a:r>
              <a:t>– entropy drop IG(τ,b) (WAFR08) · mutual information I(Ξ;Y) inside EFE (GenAIF) · fixed probe budget + coverage audit (Audit)</a:t>
            </a:r>
          </a:p>
          <a:p>
            <a:pPr lvl="1">
              <a:defRPr sz="1400"/>
            </a:pPr>
            <a:r>
              <a:t>– · variance gain γ_k ≤ 1 (Quasi-static) · learned implicitly by Q / V (RSS20, skrl)</a:t>
            </a:r>
          </a:p>
          <a:p>
            <a:pPr>
              <a:defRPr sz="1700"/>
            </a:pPr>
            <a:r>
              <a:t>• WHEN to act on it</a:t>
            </a:r>
          </a:p>
          <a:p>
            <a:pPr lvl="1">
              <a:defRPr sz="1400"/>
            </a:pPr>
            <a:r>
              <a:t>– most-likely state + pre-image test (WAFR08) · worst case over retained set (Audit) · expectation (GenAIF) · every step (RSS20, skrl)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Proposed MuJoCo implementation in skrl (to agree before coding)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• One env: planar cube push (port of Belief-based-pushing mujoco_repro), hidden pose + μ, m, k_d, batched, debug video</a:t>
            </a:r>
          </a:p>
          <a:p>
            <a:pPr>
              <a:defRPr sz="1700"/>
            </a:pPr>
            <a:r>
              <a:t>• Shared belief core: skrl.belief ParticleFilter (exists) + grid filter + retained-set / coverage utilities</a:t>
            </a:r>
          </a:p>
          <a:p>
            <a:pPr>
              <a:defRPr sz="1700"/>
            </a:pPr>
            <a:r>
              <a:t>• Methods as pluggable deciders on the same filter:</a:t>
            </a:r>
          </a:p>
          <a:p>
            <a:pPr lvl="1">
              <a:defRPr sz="1400"/>
            </a:pPr>
            <a:r>
              <a:t>– wafr08:  WRT library, offline Ω-table, IG − c·FP vs. pre-image test</a:t>
            </a:r>
          </a:p>
          <a:p>
            <a:pPr lvl="1">
              <a:defRPr sz="1400"/>
            </a:pPr>
            <a:r>
              <a:t>– audit:   probe-then-commit, scenario minimax, coverage + optimism report</a:t>
            </a:r>
          </a:p>
          <a:p>
            <a:pPr lvl="1">
              <a:defRPr sz="1400"/>
            </a:pPr>
            <a:r>
              <a:t>– genaif:  CVAE trajectory model (fast) → likelihood + EIG, EFE-MPC</a:t>
            </a:r>
          </a:p>
          <a:p>
            <a:pPr lvl="1">
              <a:defRPr sz="1400"/>
            </a:pPr>
            <a:r>
              <a:t>– quasistatic: nominal-particle variance propagation, γ_k constraint, CMA-ES over via-points</a:t>
            </a:r>
          </a:p>
          <a:p>
            <a:pPr lvl="1">
              <a:defRPr sz="1400"/>
            </a:pPr>
            <a:r>
              <a:t>– rss20:   existing BeliefDQN on the 2-GMM (baseline)</a:t>
            </a:r>
          </a:p>
          <a:p>
            <a:pPr>
              <a:defRPr sz="1700"/>
            </a:pPr>
            <a:r>
              <a:t>• Benchmarks: success / miss vs. probes, belief coverage, wall-clock; sweeps on dl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Encoders: pluggable observation encoders (DINO, CLIP, PointNet, FiLM, any)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Today skrl flattens dict observations and RunningStandardScaler would normalise pixels and token ids; PrivilegedPPO requires no preprocessor.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Dict observation, one encoder per key</a:t>
            </a:r>
          </a:p>
        </p:txBody>
      </p:sp>
      <p:pic>
        <p:nvPicPr>
          <p:cNvPr id="5" name="Picture 4" descr="3009cba85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6026727" cy="378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828800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Frozen pretrained (DINOv2 / CLIP image)</a:t>
            </a:r>
          </a:p>
        </p:txBody>
      </p:sp>
      <p:pic>
        <p:nvPicPr>
          <p:cNvPr id="7" name="Picture 6" descr="96d19cdbd5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828800"/>
            <a:ext cx="4567843" cy="399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2377440"/>
            <a:ext cx="3017520" cy="507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PointNet (permutation invariant)</a:t>
            </a:r>
          </a:p>
        </p:txBody>
      </p:sp>
      <p:pic>
        <p:nvPicPr>
          <p:cNvPr id="9" name="Picture 8" descr="5874feb686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377440"/>
            <a:ext cx="2606040" cy="5070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2994244"/>
            <a:ext cx="3017520" cy="33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CLIP text as condition</a:t>
            </a:r>
          </a:p>
        </p:txBody>
      </p:sp>
      <p:pic>
        <p:nvPicPr>
          <p:cNvPr id="11" name="Picture 10" descr="fc4c38dd43e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2994244"/>
            <a:ext cx="2830483" cy="3325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3436481"/>
            <a:ext cx="3017520" cy="33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FiLM fuses condition into features</a:t>
            </a:r>
          </a:p>
        </p:txBody>
      </p:sp>
      <p:pic>
        <p:nvPicPr>
          <p:cNvPr id="13" name="Picture 12" descr="fac8b126dc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3436481"/>
            <a:ext cx="3520440" cy="3325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3878718"/>
            <a:ext cx="3017520" cy="889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Per-key preprocessors (scaler only on low-dim keys)</a:t>
            </a:r>
          </a:p>
        </p:txBody>
      </p:sp>
      <p:pic>
        <p:nvPicPr>
          <p:cNvPr id="15" name="Picture 14" descr="467d711fca7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878718"/>
            <a:ext cx="4875414" cy="8894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YAML: models.policy.encoders: {rgb: {type: dino, frozen: true}, text: {type: clip_text}, cloud: {type: pointnet}}, fusion: {type: film, condition: text}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137160"/>
            <a:ext cx="11460175" cy="731520"/>
          </a:xfrm>
        </p:spPr>
        <p:txBody>
          <a:bodyPr/>
          <a:lstStyle/>
          <a:p>
            <a:pPr>
              <a:defRPr sz="2800"/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K. Hsiao, T. Lozano-Pérez, L. P. Kaelbling. Robust Belief-Based Execution of Manipulation Programs. WAFR 2008. lis.csail.mit.edu/pubs/tlp/wafr08.pdf</a:t>
            </a:r>
          </a:p>
          <a:p>
            <a:pPr>
              <a:defRPr sz="1400"/>
            </a:pPr>
            <a:r>
              <a:t>• L. Wirnshofer, P. Schmitt, G. v. Wichert, W. Burgard. Controlling Contact-Rich Manipulation Under Partial Observability. RSS 2020.</a:t>
            </a:r>
          </a:p>
          <a:p>
            <a:pPr>
              <a:defRPr sz="1400"/>
            </a:pPr>
            <a:r>
              <a:t>• M. Abouagour, B.-C. Min. Audit Before You Commit: Locating Belief Failures in Active Identification for One-Shot Manipulation. arXiv 2609.30608.</a:t>
            </a:r>
          </a:p>
          <a:p>
            <a:pPr>
              <a:defRPr sz="1400"/>
            </a:pPr>
            <a:r>
              <a:t>• Y. Li, M. A. Jafari, A. Matta. Benchmarking Generative Trajectory Models for Active-Inference Control. arXiv 2610.05692.</a:t>
            </a:r>
          </a:p>
          <a:p>
            <a:pPr>
              <a:defRPr sz="1400"/>
            </a:pPr>
            <a:r>
              <a:t>• J. Jankowski et al. Robust Pushing: Exploiting Quasi-static Belief Dynamics and Contact-informed Optimization. IJRR 2025, arXiv 2404.02795.</a:t>
            </a:r>
          </a:p>
          <a:p>
            <a:pPr>
              <a:defRPr sz="1400"/>
            </a:pPr>
            <a:r>
              <a:t>• github.com/ebasatemesgen/Belief-based-pushing (mujoco_repro = RSS20 MuJoCo reproduction track).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