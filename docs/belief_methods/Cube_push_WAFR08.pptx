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37160"/>
            <a:ext cx="11460175" cy="731520"/>
          </a:xfrm>
        </p:spPr>
        <p:txBody>
          <a:bodyPr/>
          <a:lstStyle/>
          <a:p>
            <a:pPr>
              <a:defRPr sz="2800"/>
            </a:pPr>
            <a:r>
              <a:t>Cube push with WAFR08 belief-based execution (MuJoCo, skrl)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Hidden cube pose + friction μ, mass m, damping k_d; the only command is the wanted final cube 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Setup</a:t>
            </a:r>
          </a:p>
          <a:p>
            <a:pPr lvl="1">
              <a:defRPr sz="1400"/>
            </a:pPr>
            <a:r>
              <a:t>Pusher: cylinder, position targets (x, y, z), sees its own position and actuator force (noisy)</a:t>
            </a:r>
          </a:p>
          <a:p>
            <a:pPr lvl="1">
              <a:defRPr sz="1400"/>
            </a:pPr>
            <a:r>
              <a:t>Cube: hidden start pose (x, y, yaw mod 90°) and μ ∈ [0.3, 0.8], m ∈ [0.2, 0.6] kg, k_d ∈ [0, 3] N s/m</a:t>
            </a:r>
          </a:p>
          <a:p>
            <a:pPr lvl="1">
              <a:defRPr sz="1400"/>
            </a:pPr>
            <a:r>
              <a:t>Goal: cube pose within 2 cm and 10°</a:t>
            </a:r>
          </a:p>
          <a:p>
            <a:pPr>
              <a:defRPr sz="1600"/>
            </a:pPr>
            <a:r>
              <a:t>Planner: WAFR08 (Hsiao, Lozano-Pérez, Kaelbling 2008)</a:t>
            </a:r>
          </a:p>
          <a:p>
            <a:pPr lvl="1">
              <a:defRPr sz="1400"/>
            </a:pPr>
            <a:r>
              <a:t>Grid belief over (x, y, yaw, μ, m, k_d): 36 × 35 × 9 × 3 × 3 × 3 cells</a:t>
            </a:r>
          </a:p>
          <a:p>
            <a:pPr lvl="1">
              <a:defRPr sz="1400"/>
            </a:pPr>
            <a:r>
              <a:t>World-relative trajectories at the MAP state w*: guarded touch, force probe, goal push</a:t>
            </a:r>
          </a:p>
          <a:p>
            <a:pPr lvl="1">
              <a:defRPr sz="1400"/>
            </a:pPr>
            <a:r>
              <a:t>Every WRT simulated from every belief hypothesis with batched mujoco.rollout</a:t>
            </a:r>
          </a:p>
          <a:p>
            <a:pPr>
              <a:defRPr sz="1600"/>
            </a:pPr>
            <a:r>
              <a:t>Result: 3 / 3 seeds reach the goal (21–27 WRTs, 35–46 s simulated)</a:t>
            </a:r>
          </a:p>
        </p:txBody>
      </p:sp>
      <p:pic>
        <p:nvPicPr>
          <p:cNvPr id="5" name="Picture 4" descr="wafr08_seed1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94960" cy="44058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37160"/>
            <a:ext cx="11460175" cy="731520"/>
          </a:xfrm>
        </p:spPr>
        <p:txBody>
          <a:bodyPr/>
          <a:lstStyle/>
          <a:p>
            <a:pPr>
              <a:defRPr sz="2800"/>
            </a:pPr>
            <a:r>
              <a:t>WAFR08 decision rule on the cube push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Belief update with each observed contact, travel and force</a:t>
            </a:r>
          </a:p>
        </p:txBody>
      </p:sp>
      <p:pic>
        <p:nvPicPr>
          <p:cNvPr id="4" name="Picture 3" descr="r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0972800" cy="22075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937760"/>
            <a:ext cx="11155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Changes vs. the paper: IG is measured on the next-state belief b'_τ (actions that scatter the cube lose what they disturb); G_δ uses 2× tolerance for waypoint pushes that do not end at the goal; force probes only once the pose entropy &lt; 1.5 nats; FP = P(pusher lands on the cube) + P(cube leaves the table).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37160"/>
            <a:ext cx="11460175" cy="731520"/>
          </a:xfrm>
        </p:spPr>
        <p:txBody>
          <a:bodyPr/>
          <a:lstStyle/>
          <a:p>
            <a:pPr>
              <a:defRPr sz="2800"/>
            </a:pPr>
            <a:r>
              <a:t>Seed 0: belief over time (keyframes)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true μ 0.31, m 0.53 kg, k_d 2.74 | 21 WRTs: 15 touches, 0 probes, 6 goal pushes | final error 1.3 cm, 1.9°</a:t>
            </a:r>
          </a:p>
        </p:txBody>
      </p:sp>
      <p:pic>
        <p:nvPicPr>
          <p:cNvPr id="4" name="Picture 3" descr="seed0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3359020" cy="2743200"/>
          </a:xfrm>
          <a:prstGeom prst="rect">
            <a:avLst/>
          </a:prstGeom>
        </p:spPr>
      </p:pic>
      <p:pic>
        <p:nvPicPr>
          <p:cNvPr id="5" name="Picture 4" descr="seed0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79" y="1234440"/>
            <a:ext cx="3359020" cy="2743200"/>
          </a:xfrm>
          <a:prstGeom prst="rect">
            <a:avLst/>
          </a:prstGeom>
        </p:spPr>
      </p:pic>
      <p:pic>
        <p:nvPicPr>
          <p:cNvPr id="6" name="Picture 5" descr="seed0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4023360"/>
            <a:ext cx="3359020" cy="2743200"/>
          </a:xfrm>
          <a:prstGeom prst="rect">
            <a:avLst/>
          </a:prstGeom>
        </p:spPr>
      </p:pic>
      <p:pic>
        <p:nvPicPr>
          <p:cNvPr id="7" name="Picture 6" descr="seed0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79" y="4023360"/>
            <a:ext cx="335902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794760" y="1234440"/>
            <a:ext cx="21945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Panels: overview, top-down, pusher follow, belief plots</a:t>
            </a:r>
          </a:p>
          <a:p>
            <a:pPr>
              <a:defRPr sz="1100"/>
            </a:pPr>
            <a:r>
              <a:t>Orange tiles: most likely cube cells (opacity ∝ mass)</a:t>
            </a:r>
          </a:p>
          <a:p>
            <a:pPr>
              <a:defRPr sz="1100"/>
            </a:pPr>
            <a:r>
              <a:t>Blue box: MAP w*</a:t>
            </a:r>
          </a:p>
          <a:p>
            <a:pPr>
              <a:defRPr sz="1100"/>
            </a:pPr>
            <a:r>
              <a:t>Green box + disc: goal pose, 2 cm tolerance</a:t>
            </a:r>
          </a:p>
          <a:p>
            <a:pPr>
              <a:defRPr sz="1100"/>
            </a:pPr>
            <a:r>
              <a:t>Red: table limit</a:t>
            </a:r>
          </a:p>
          <a:p>
            <a:pPr>
              <a:defRPr sz="1100"/>
            </a:pPr>
            <a:r>
              <a:t>Yellow: current WRT path</a:t>
            </a:r>
          </a:p>
          <a:p>
            <a:pPr>
              <a:defRPr sz="1100"/>
            </a:pPr>
            <a:r>
              <a:t>Order: prior → touches → goal pushes → stop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37160"/>
            <a:ext cx="11460175" cy="731520"/>
          </a:xfrm>
        </p:spPr>
        <p:txBody>
          <a:bodyPr/>
          <a:lstStyle/>
          <a:p>
            <a:pPr>
              <a:defRPr sz="2800"/>
            </a:pPr>
            <a:r>
              <a:t>Seed 1: belief over time (keyframes)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true μ 0.77, m 0.32 kg, k_d 1.27 | 27 WRTs: 21 touches, 0 probes, 6 goal pushes | final error 0.4 cm, 4.8°</a:t>
            </a:r>
          </a:p>
        </p:txBody>
      </p:sp>
      <p:pic>
        <p:nvPicPr>
          <p:cNvPr id="4" name="Picture 3" descr="seed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3359020" cy="2743200"/>
          </a:xfrm>
          <a:prstGeom prst="rect">
            <a:avLst/>
          </a:prstGeom>
        </p:spPr>
      </p:pic>
      <p:pic>
        <p:nvPicPr>
          <p:cNvPr id="5" name="Picture 4" descr="seed1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79" y="1234440"/>
            <a:ext cx="3359020" cy="2743200"/>
          </a:xfrm>
          <a:prstGeom prst="rect">
            <a:avLst/>
          </a:prstGeom>
        </p:spPr>
      </p:pic>
      <p:pic>
        <p:nvPicPr>
          <p:cNvPr id="6" name="Picture 5" descr="seed1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4023360"/>
            <a:ext cx="3359020" cy="2743200"/>
          </a:xfrm>
          <a:prstGeom prst="rect">
            <a:avLst/>
          </a:prstGeom>
        </p:spPr>
      </p:pic>
      <p:pic>
        <p:nvPicPr>
          <p:cNvPr id="7" name="Picture 6" descr="seed1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79" y="4023360"/>
            <a:ext cx="335902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794760" y="1234440"/>
            <a:ext cx="21945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Panels: overview, top-down, pusher follow, belief plots</a:t>
            </a:r>
          </a:p>
          <a:p>
            <a:pPr>
              <a:defRPr sz="1100"/>
            </a:pPr>
            <a:r>
              <a:t>Orange tiles: most likely cube cells (opacity ∝ mass)</a:t>
            </a:r>
          </a:p>
          <a:p>
            <a:pPr>
              <a:defRPr sz="1100"/>
            </a:pPr>
            <a:r>
              <a:t>Blue box: MAP w*</a:t>
            </a:r>
          </a:p>
          <a:p>
            <a:pPr>
              <a:defRPr sz="1100"/>
            </a:pPr>
            <a:r>
              <a:t>Green box + disc: goal pose, 2 cm tolerance</a:t>
            </a:r>
          </a:p>
          <a:p>
            <a:pPr>
              <a:defRPr sz="1100"/>
            </a:pPr>
            <a:r>
              <a:t>Red: table limit</a:t>
            </a:r>
          </a:p>
          <a:p>
            <a:pPr>
              <a:defRPr sz="1100"/>
            </a:pPr>
            <a:r>
              <a:t>Yellow: current WRT path</a:t>
            </a:r>
          </a:p>
          <a:p>
            <a:pPr>
              <a:defRPr sz="1100"/>
            </a:pPr>
            <a:r>
              <a:t>Order: prior → touches → goal pushes → stop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37160"/>
            <a:ext cx="11460175" cy="731520"/>
          </a:xfrm>
        </p:spPr>
        <p:txBody>
          <a:bodyPr/>
          <a:lstStyle/>
          <a:p>
            <a:pPr>
              <a:defRPr sz="2800"/>
            </a:pPr>
            <a:r>
              <a:t>Seed 2: belief over time (keyframes)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true μ 0.35, m 0.44 kg, k_d 2.19 | 22 WRTs: 15 touches, 0 probes, 7 goal pushes | final error 0.4 cm, 5.5°</a:t>
            </a:r>
          </a:p>
        </p:txBody>
      </p:sp>
      <p:pic>
        <p:nvPicPr>
          <p:cNvPr id="4" name="Picture 3" descr="seed2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3359020" cy="2743200"/>
          </a:xfrm>
          <a:prstGeom prst="rect">
            <a:avLst/>
          </a:prstGeom>
        </p:spPr>
      </p:pic>
      <p:pic>
        <p:nvPicPr>
          <p:cNvPr id="5" name="Picture 4" descr="seed2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79" y="1234440"/>
            <a:ext cx="3359020" cy="2743200"/>
          </a:xfrm>
          <a:prstGeom prst="rect">
            <a:avLst/>
          </a:prstGeom>
        </p:spPr>
      </p:pic>
      <p:pic>
        <p:nvPicPr>
          <p:cNvPr id="6" name="Picture 5" descr="seed2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4023360"/>
            <a:ext cx="3359020" cy="2743200"/>
          </a:xfrm>
          <a:prstGeom prst="rect">
            <a:avLst/>
          </a:prstGeom>
        </p:spPr>
      </p:pic>
      <p:pic>
        <p:nvPicPr>
          <p:cNvPr id="7" name="Picture 6" descr="seed2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79" y="4023360"/>
            <a:ext cx="335902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794760" y="1234440"/>
            <a:ext cx="21945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Panels: overview, top-down, pusher follow, belief plots</a:t>
            </a:r>
          </a:p>
          <a:p>
            <a:pPr>
              <a:defRPr sz="1100"/>
            </a:pPr>
            <a:r>
              <a:t>Orange tiles: most likely cube cells (opacity ∝ mass)</a:t>
            </a:r>
          </a:p>
          <a:p>
            <a:pPr>
              <a:defRPr sz="1100"/>
            </a:pPr>
            <a:r>
              <a:t>Blue box: MAP w*</a:t>
            </a:r>
          </a:p>
          <a:p>
            <a:pPr>
              <a:defRPr sz="1100"/>
            </a:pPr>
            <a:r>
              <a:t>Green box + disc: goal pose, 2 cm tolerance</a:t>
            </a:r>
          </a:p>
          <a:p>
            <a:pPr>
              <a:defRPr sz="1100"/>
            </a:pPr>
            <a:r>
              <a:t>Red: table limit</a:t>
            </a:r>
          </a:p>
          <a:p>
            <a:pPr>
              <a:defRPr sz="1100"/>
            </a:pPr>
            <a:r>
              <a:t>Yellow: current WRT path</a:t>
            </a:r>
          </a:p>
          <a:p>
            <a:pPr>
              <a:defRPr sz="1100"/>
            </a:pPr>
            <a:r>
              <a:t>Order: prior → touches → goal pushes → stop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37160"/>
            <a:ext cx="11460175" cy="731520"/>
          </a:xfrm>
        </p:spPr>
        <p:txBody>
          <a:bodyPr/>
          <a:lstStyle/>
          <a:p>
            <a:pPr>
              <a:defRPr sz="2800"/>
            </a:pPr>
            <a:r>
              <a:t>Seed 0: full render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Drive video wafr08_seed0.mp4 (runs/cube_push_wafr08/videos/)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37160"/>
            <a:ext cx="11460175" cy="731520"/>
          </a:xfrm>
        </p:spPr>
        <p:txBody>
          <a:bodyPr/>
          <a:lstStyle/>
          <a:p>
            <a:pPr>
              <a:defRPr sz="2800"/>
            </a:pPr>
            <a:r>
              <a:t>Seed 1: full render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Drive video wafr08_seed1.mp4 (runs/cube_push_wafr08/videos/)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37160"/>
            <a:ext cx="11460175" cy="731520"/>
          </a:xfrm>
        </p:spPr>
        <p:txBody>
          <a:bodyPr/>
          <a:lstStyle/>
          <a:p>
            <a:pPr>
              <a:defRPr sz="2800"/>
            </a:pPr>
            <a:r>
              <a:t>Seed 2: full render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Drive video wafr08_seed2.mp4 (runs/cube_push_wafr08/videos/)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37160"/>
            <a:ext cx="11460175" cy="731520"/>
          </a:xfrm>
        </p:spPr>
        <p:txBody>
          <a:bodyPr/>
          <a:lstStyle/>
          <a:p>
            <a:pPr>
              <a:defRPr sz="2800"/>
            </a:pPr>
            <a:r>
              <a:t>Belief evolution and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3 / 3 seeds reach the 2 cm / 10° goal; WAFR08 stops on belief, and the true cube is inside the tolerance too</a:t>
            </a:r>
          </a:p>
        </p:txBody>
      </p:sp>
      <p:pic>
        <p:nvPicPr>
          <p:cNvPr id="4" name="Picture 3" descr="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33445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5488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seed 0: 21 WRTs, 35 s simulated, error 1.3 cm 1.9°, true (μ, m, k_d) = (0.31, 0.53, 2.74), MAP levels (0.38, 0.40, 2.5)</a:t>
            </a:r>
          </a:p>
          <a:p>
            <a:pPr>
              <a:defRPr sz="1300"/>
            </a:pPr>
            <a:r>
              <a:t>seed 1: 27 WRTs, 46 s simulated, error 0.4 cm 4.8°, true (μ, m, k_d) = (0.77, 0.32, 1.27), MAP levels (0.55, 0.40, 2.5)</a:t>
            </a:r>
          </a:p>
          <a:p>
            <a:pPr>
              <a:defRPr sz="1300"/>
            </a:pPr>
            <a:r>
              <a:t>seed 2: 22 WRTs, 37 s simulated, error 0.4 cm 5.5°, true (μ, m, k_d) = (0.35, 0.44, 2.19), MAP levels (0.38, 0.53, 0.5)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37160"/>
            <a:ext cx="11460175" cy="731520"/>
          </a:xfrm>
        </p:spPr>
        <p:txBody>
          <a:bodyPr/>
          <a:lstStyle/>
          <a:p>
            <a:pPr>
              <a:defRPr sz="2800"/>
            </a:pPr>
            <a:r>
              <a:t>What works, what does not yet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/>
            </a:pPr>
            <a:r>
              <a:t>Works</a:t>
            </a:r>
          </a:p>
          <a:p>
            <a:pPr lvl="1">
              <a:defRPr sz="1500"/>
            </a:pPr>
            <a:r>
              <a:t>Guarded touches localize the cube from a 12 × 20 cm, any-yaw prior in ~10 WRTs</a:t>
            </a:r>
          </a:p>
          <a:p>
            <a:pPr lvl="1">
              <a:defRPr sz="1500"/>
            </a:pPr>
            <a:r>
              <a:t>Goal pushes are executed only from the belief pre-image; touches re-localize between them</a:t>
            </a:r>
          </a:p>
          <a:p>
            <a:pPr lvl="1">
              <a:defRPr sz="1500"/>
            </a:pPr>
            <a:r>
              <a:t>Hypothesis rollouts reproduce the real sensor trace exactly (same MuJoCo model, same controls)</a:t>
            </a:r>
          </a:p>
          <a:p>
            <a:pPr>
              <a:defRPr sz="1700"/>
            </a:pPr>
            <a:r>
              <a:t>Does not yet</a:t>
            </a:r>
          </a:p>
          <a:p>
            <a:pPr lvl="1">
              <a:defRPr sz="1500"/>
            </a:pPr>
            <a:r>
              <a:t>Physics is only coarsely identified: 3 levels per parameter, and push forces mostly measure μ·m</a:t>
            </a:r>
          </a:p>
          <a:p>
            <a:pPr lvl="1">
              <a:defRPr sz="1500"/>
            </a:pPr>
            <a:r>
              <a:t>Force probes almost never fire (gated on pose entropy); belief stays ~5 nats at the stop</a:t>
            </a:r>
          </a:p>
          <a:p>
            <a:pPr lvl="1">
              <a:defRPr sz="1500"/>
            </a:pPr>
            <a:r>
              <a:t>~2 min wall per episode on the laptop CPU (400–6000 hypotheses per WRT)</a:t>
            </a:r>
          </a:p>
          <a:p>
            <a:pPr>
              <a:defRPr sz="1700"/>
            </a:pPr>
            <a:r>
              <a:t>Next</a:t>
            </a:r>
          </a:p>
          <a:p>
            <a:pPr lvl="1">
              <a:defRPr sz="1500"/>
            </a:pPr>
            <a:r>
              <a:t>Audit, GenAIF, quasi-static belief dynamics and RSS20 on the same env, same video tooling</a:t>
            </a:r>
          </a:p>
          <a:p>
            <a:pPr>
              <a:defRPr sz="1700"/>
            </a:pPr>
            <a:r>
              <a:t>Code: skrl/envs/cube_push/{sim,env,wafr08,render}.py, skrl/belief/grid_belief.py, examples/contact_rich_uncertainty/cube_push_wafr08.py (commit dc5467f5)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